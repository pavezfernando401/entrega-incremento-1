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gkDL+asI3deibAsh4ybrnxbcBH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rcelo Roz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0T23:59:03.993">
    <p:pos x="-3624" y="1503"/>
    <p:text>Alternativa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GuzUd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5d143b70_0_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95d143b7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95d143b7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db160a22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Quitar casos de uso individuales y hacer algo mas grafico que se entienda mas didactico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eadb160a22_0_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012e0481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e012e04817_0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12e0481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e012e04817_0_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12e0481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012e04817_0_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7ceb5db3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977ceb5db3_1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98f05dd6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9798f05dd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9798f05dd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798f05dd6_0_3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9798f05dd6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9798f05dd6_0_3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b438e05f_0_1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7b438e05f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97b438e05f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bf930dc6c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bf930dc6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ebf930dc6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012e04817_0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e012e04817_0_2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5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5.gif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2015400" y="2099975"/>
            <a:ext cx="69039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INGENIERÍA DE SOFTWARE I: I</a:t>
            </a:r>
            <a:r>
              <a:rPr b="1" lang="en-US" sz="3600">
                <a:solidFill>
                  <a:schemeClr val="lt1"/>
                </a:solidFill>
              </a:rPr>
              <a:t>NCREMENTO 1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71850" y="3722675"/>
            <a:ext cx="6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Integral para Finet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Grupo 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-14013" y="0"/>
            <a:ext cx="9172026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41" y="5858386"/>
            <a:ext cx="17617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 de junio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211025" y="5535175"/>
            <a:ext cx="58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Alumnos: Fernando Pavez, Marcelo Rozas, Vicente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Jiménez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Matías Abarca, Emilio Castillo, Daniel Mass.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Profesor: Paulo Quinsacara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95d143b70_0_88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95d143b70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95d143b70_0_88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g3d95d143b70_0_88"/>
          <p:cNvGrpSpPr/>
          <p:nvPr/>
        </p:nvGrpSpPr>
        <p:grpSpPr>
          <a:xfrm>
            <a:off x="1794184" y="1142974"/>
            <a:ext cx="5389795" cy="4435297"/>
            <a:chOff x="381000" y="1047750"/>
            <a:chExt cx="4095900" cy="4572000"/>
          </a:xfrm>
        </p:grpSpPr>
        <p:sp>
          <p:nvSpPr>
            <p:cNvPr id="106" name="Google Shape;106;g3d95d143b70_0_88"/>
            <p:cNvSpPr/>
            <p:nvPr/>
          </p:nvSpPr>
          <p:spPr>
            <a:xfrm>
              <a:off x="381000" y="1047750"/>
              <a:ext cx="4095900" cy="4572000"/>
            </a:xfrm>
            <a:prstGeom prst="roundRect">
              <a:avLst>
                <a:gd fmla="val 34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8"/>
                <a:buFont typeface="Arial"/>
                <a:buNone/>
              </a:pPr>
              <a:r>
                <a:t/>
              </a:r>
              <a:endParaRPr b="0" i="0" sz="13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95d143b70_0_88"/>
            <p:cNvSpPr txBox="1"/>
            <p:nvPr/>
          </p:nvSpPr>
          <p:spPr>
            <a:xfrm>
              <a:off x="583954" y="1242139"/>
              <a:ext cx="3730200" cy="41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Incremento 1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Caso de Uso 27 – Descripción y actores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Caso de Uso 27 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7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Caso de Uso 27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05.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Caso de Uso 38 – Descripción y actores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06.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Caso de Uso 38</a:t>
              </a:r>
              <a:endParaRPr b="1" sz="2234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07.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Caso de Uso 38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08.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Anexos y Repositorio Documental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lang="en-US" sz="2234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09.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Validación del Incremento por parte Finet</a:t>
              </a:r>
              <a:endParaRPr sz="204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g3d95d143b70_0_88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d95d143b70_0_88"/>
          <p:cNvSpPr txBox="1"/>
          <p:nvPr/>
        </p:nvSpPr>
        <p:spPr>
          <a:xfrm>
            <a:off x="9989825" y="875450"/>
            <a:ext cx="322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AGRANDAR ÍNDICE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adb160a22_0_94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adb160a22_0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eadb160a22_0_94"/>
          <p:cNvSpPr txBox="1"/>
          <p:nvPr/>
        </p:nvSpPr>
        <p:spPr>
          <a:xfrm>
            <a:off x="108976" y="127950"/>
            <a:ext cx="82071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Taza Scrum++: Incremento 1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adb160a22_0_94"/>
          <p:cNvSpPr txBox="1"/>
          <p:nvPr/>
        </p:nvSpPr>
        <p:spPr>
          <a:xfrm>
            <a:off x="893250" y="1883100"/>
            <a:ext cx="73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adb160a22_0_94"/>
          <p:cNvSpPr txBox="1"/>
          <p:nvPr/>
        </p:nvSpPr>
        <p:spPr>
          <a:xfrm>
            <a:off x="2529150" y="1120400"/>
            <a:ext cx="40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g3eadb160a22_0_94"/>
          <p:cNvGrpSpPr/>
          <p:nvPr/>
        </p:nvGrpSpPr>
        <p:grpSpPr>
          <a:xfrm>
            <a:off x="476250" y="957263"/>
            <a:ext cx="8191500" cy="1428900"/>
            <a:chOff x="476250" y="1333500"/>
            <a:chExt cx="8191500" cy="1428900"/>
          </a:xfrm>
        </p:grpSpPr>
        <p:sp>
          <p:nvSpPr>
            <p:cNvPr id="120" name="Google Shape;120;g3eadb160a22_0_94"/>
            <p:cNvSpPr/>
            <p:nvPr/>
          </p:nvSpPr>
          <p:spPr>
            <a:xfrm>
              <a:off x="476250" y="1333500"/>
              <a:ext cx="2667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eadb160a22_0_94"/>
            <p:cNvSpPr txBox="1"/>
            <p:nvPr/>
          </p:nvSpPr>
          <p:spPr>
            <a:xfrm>
              <a:off x="476250" y="13335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 b="1" sz="3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Casos de Uso Desarrollados</a:t>
              </a:r>
              <a:endParaRPr b="1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3eadb160a22_0_94"/>
            <p:cNvSpPr/>
            <p:nvPr/>
          </p:nvSpPr>
          <p:spPr>
            <a:xfrm>
              <a:off x="3238500" y="1333500"/>
              <a:ext cx="2667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eadb160a22_0_94"/>
            <p:cNvSpPr txBox="1"/>
            <p:nvPr/>
          </p:nvSpPr>
          <p:spPr>
            <a:xfrm>
              <a:off x="3238500" y="13335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42.5%</a:t>
              </a:r>
              <a:endParaRPr b="1" sz="3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parcial (Sprint)</a:t>
              </a:r>
              <a:endParaRPr b="1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(34 de 80)</a:t>
              </a:r>
              <a:endParaRPr sz="11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eadb160a22_0_94"/>
            <p:cNvSpPr/>
            <p:nvPr/>
          </p:nvSpPr>
          <p:spPr>
            <a:xfrm>
              <a:off x="6000750" y="1333500"/>
              <a:ext cx="2667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g3eadb160a22_0_94"/>
            <p:cNvSpPr txBox="1"/>
            <p:nvPr/>
          </p:nvSpPr>
          <p:spPr>
            <a:xfrm>
              <a:off x="6000750" y="13335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42.5%</a:t>
              </a:r>
              <a:endParaRPr b="1" sz="3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acumulado</a:t>
              </a:r>
              <a:endParaRPr b="1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(1er Incremento)</a:t>
              </a:r>
              <a:endParaRPr sz="11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g3eadb160a22_0_94"/>
          <p:cNvGrpSpPr/>
          <p:nvPr/>
        </p:nvGrpSpPr>
        <p:grpSpPr>
          <a:xfrm>
            <a:off x="1156097" y="2540585"/>
            <a:ext cx="6831826" cy="4071205"/>
            <a:chOff x="1360650" y="2842300"/>
            <a:chExt cx="6422700" cy="3827400"/>
          </a:xfrm>
        </p:grpSpPr>
        <p:sp>
          <p:nvSpPr>
            <p:cNvPr id="127" name="Google Shape;127;g3eadb160a22_0_94"/>
            <p:cNvSpPr/>
            <p:nvPr/>
          </p:nvSpPr>
          <p:spPr>
            <a:xfrm>
              <a:off x="1360650" y="2842300"/>
              <a:ext cx="6422700" cy="38274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01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9"/>
            </a:p>
          </p:txBody>
        </p:sp>
        <p:pic>
          <p:nvPicPr>
            <p:cNvPr id="128" name="Google Shape;128;g3eadb160a22_0_94" title="Puntuación lograda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88525" y="2911213"/>
              <a:ext cx="5966949" cy="3689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9" name="Google Shape;129;g3eadb160a22_0_94"/>
          <p:cNvPicPr preferRelativeResize="0"/>
          <p:nvPr/>
        </p:nvPicPr>
        <p:blipFill rotWithShape="1">
          <a:blip r:embed="rId7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adb160a22_0_94" title="Puntuación lograd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5753275" y="2386187"/>
            <a:ext cx="5076249" cy="31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e012e04817_0_21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e012e0481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e012e04817_0_2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CU-27 —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e012e04817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1726" y="924524"/>
            <a:ext cx="7430700" cy="56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e012e04817_0_34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e012e04817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e012e04817_0_34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012e04817_0_34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e012e04817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75" y="949075"/>
            <a:ext cx="8789650" cy="572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e012e04817_0_34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e012e04817_0_4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e012e04817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e012e04817_0_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CU-27.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e012e04817_0_46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e012e04817_0_46"/>
          <p:cNvPicPr preferRelativeResize="0"/>
          <p:nvPr/>
        </p:nvPicPr>
        <p:blipFill rotWithShape="1">
          <a:blip r:embed="rId5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e012e04817_0_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988" y="1120400"/>
            <a:ext cx="6879078" cy="482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977ceb5db3_1_13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977ceb5db3_1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977ceb5db3_1_13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CU-38 —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977ceb5db3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175" y="967175"/>
            <a:ext cx="7099649" cy="58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9798f05dd6_0_11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 cap="flat" cmpd="sng" w="9525">
            <a:solidFill>
              <a:srgbClr val="A0292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g39798f05dd6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9798f05dd6_0_1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CU-38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9798f05dd6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00" y="941300"/>
            <a:ext cx="8319800" cy="563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9798f05dd6_0_1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9798f05dd6_0_390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9798f05dd6_0_3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9798f05dd6_0_390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CU-38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9798f05dd6_0_390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9798f05dd6_0_390"/>
          <p:cNvPicPr preferRelativeResize="0"/>
          <p:nvPr/>
        </p:nvPicPr>
        <p:blipFill rotWithShape="1">
          <a:blip r:embed="rId7">
            <a:alphaModFix/>
          </a:blip>
          <a:srcRect b="47876" l="0" r="0" t="0"/>
          <a:stretch/>
        </p:blipFill>
        <p:spPr>
          <a:xfrm>
            <a:off x="2325150" y="1064625"/>
            <a:ext cx="1659975" cy="5048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9798f05dd6_0_390"/>
          <p:cNvPicPr preferRelativeResize="0"/>
          <p:nvPr/>
        </p:nvPicPr>
        <p:blipFill rotWithShape="1">
          <a:blip r:embed="rId7">
            <a:alphaModFix/>
          </a:blip>
          <a:srcRect b="0" l="0" r="0" t="52197"/>
          <a:stretch/>
        </p:blipFill>
        <p:spPr>
          <a:xfrm>
            <a:off x="4564425" y="1106150"/>
            <a:ext cx="1780238" cy="4965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97b438e05f_0_14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97b438e05f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97b438e05f_0_1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Anexos y Repositorio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97b438e05f_0_146"/>
          <p:cNvPicPr preferRelativeResize="0"/>
          <p:nvPr/>
        </p:nvPicPr>
        <p:blipFill rotWithShape="1">
          <a:blip r:embed="rId5">
            <a:alphaModFix amt="30000"/>
          </a:blip>
          <a:srcRect b="0" l="0" r="0" t="0"/>
          <a:stretch/>
        </p:blipFill>
        <p:spPr>
          <a:xfrm>
            <a:off x="7323175" y="5334071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197" name="Google Shape;197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3150" y="876723"/>
            <a:ext cx="719250" cy="6496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97b438e05f_0_146"/>
          <p:cNvSpPr txBox="1"/>
          <p:nvPr/>
        </p:nvSpPr>
        <p:spPr>
          <a:xfrm>
            <a:off x="1181200" y="9729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Incremento 1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folder with a yellow border and a white background (proporcionada por Tenor)" id="199" name="Google Shape;199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16113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0" name="Google Shape;200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3092998"/>
            <a:ext cx="719250" cy="649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g397b438e05f_0_146"/>
          <p:cNvGrpSpPr/>
          <p:nvPr/>
        </p:nvGrpSpPr>
        <p:grpSpPr>
          <a:xfrm>
            <a:off x="6843750" y="1087250"/>
            <a:ext cx="2013050" cy="2019200"/>
            <a:chOff x="6627850" y="1188100"/>
            <a:chExt cx="2013050" cy="2019200"/>
          </a:xfrm>
        </p:grpSpPr>
        <p:sp>
          <p:nvSpPr>
            <p:cNvPr id="202" name="Google Shape;202;g397b438e05f_0_146"/>
            <p:cNvSpPr/>
            <p:nvPr/>
          </p:nvSpPr>
          <p:spPr>
            <a:xfrm>
              <a:off x="662785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97b438e05f_0_146"/>
            <p:cNvSpPr/>
            <p:nvPr/>
          </p:nvSpPr>
          <p:spPr>
            <a:xfrm rot="5400000">
              <a:off x="801090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97b438e05f_0_146"/>
            <p:cNvSpPr/>
            <p:nvPr/>
          </p:nvSpPr>
          <p:spPr>
            <a:xfrm rot="-5400000">
              <a:off x="6627850" y="25773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97b438e05f_0_146"/>
            <p:cNvSpPr/>
            <p:nvPr/>
          </p:nvSpPr>
          <p:spPr>
            <a:xfrm rot="10800000">
              <a:off x="8010839" y="2577235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folder with a yellow border and a white background (proporcionada por Tenor)" id="206" name="Google Shape;206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234597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7" name="Google Shape;207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384002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8" name="Google Shape;208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45870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9" name="Google Shape;209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608109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10" name="Google Shape;210;g397b438e05f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400" y="5334073"/>
            <a:ext cx="719250" cy="6496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g397b438e05f_0_146"/>
          <p:cNvCxnSpPr>
            <a:stCxn id="197" idx="2"/>
            <a:endCxn id="209" idx="1"/>
          </p:cNvCxnSpPr>
          <p:nvPr/>
        </p:nvCxnSpPr>
        <p:spPr>
          <a:xfrm flipH="1" rot="-5400000">
            <a:off x="-1547125" y="3786267"/>
            <a:ext cx="4879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97b438e05f_0_146"/>
          <p:cNvCxnSpPr>
            <a:stCxn id="197" idx="2"/>
            <a:endCxn id="210" idx="1"/>
          </p:cNvCxnSpPr>
          <p:nvPr/>
        </p:nvCxnSpPr>
        <p:spPr>
          <a:xfrm flipH="1" rot="-5400000">
            <a:off x="-1173625" y="3412767"/>
            <a:ext cx="4132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97b438e05f_0_146"/>
          <p:cNvCxnSpPr>
            <a:stCxn id="197" idx="2"/>
            <a:endCxn id="208" idx="1"/>
          </p:cNvCxnSpPr>
          <p:nvPr/>
        </p:nvCxnSpPr>
        <p:spPr>
          <a:xfrm flipH="1" rot="-5400000">
            <a:off x="-800125" y="3039267"/>
            <a:ext cx="3385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97b438e05f_0_146"/>
          <p:cNvCxnSpPr>
            <a:stCxn id="197" idx="2"/>
            <a:endCxn id="207" idx="1"/>
          </p:cNvCxnSpPr>
          <p:nvPr/>
        </p:nvCxnSpPr>
        <p:spPr>
          <a:xfrm flipH="1" rot="-5400000">
            <a:off x="-426625" y="2665767"/>
            <a:ext cx="2638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g397b438e05f_0_146"/>
          <p:cNvCxnSpPr>
            <a:stCxn id="197" idx="2"/>
            <a:endCxn id="200" idx="1"/>
          </p:cNvCxnSpPr>
          <p:nvPr/>
        </p:nvCxnSpPr>
        <p:spPr>
          <a:xfrm flipH="1" rot="-5400000">
            <a:off x="-53125" y="2292267"/>
            <a:ext cx="1891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g397b438e05f_0_146"/>
          <p:cNvCxnSpPr>
            <a:stCxn id="197" idx="2"/>
            <a:endCxn id="206" idx="1"/>
          </p:cNvCxnSpPr>
          <p:nvPr/>
        </p:nvCxnSpPr>
        <p:spPr>
          <a:xfrm flipH="1" rot="-5400000">
            <a:off x="320375" y="1918767"/>
            <a:ext cx="1144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g397b438e05f_0_146"/>
          <p:cNvCxnSpPr>
            <a:stCxn id="197" idx="2"/>
            <a:endCxn id="199" idx="1"/>
          </p:cNvCxnSpPr>
          <p:nvPr/>
        </p:nvCxnSpPr>
        <p:spPr>
          <a:xfrm flipH="1" rot="-5400000">
            <a:off x="687725" y="1551417"/>
            <a:ext cx="4098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97b438e05f_0_146"/>
          <p:cNvSpPr txBox="1"/>
          <p:nvPr/>
        </p:nvSpPr>
        <p:spPr>
          <a:xfrm>
            <a:off x="1943200" y="17137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Navegación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7b438e05f_0_146"/>
          <p:cNvSpPr txBox="1"/>
          <p:nvPr/>
        </p:nvSpPr>
        <p:spPr>
          <a:xfrm>
            <a:off x="1943200" y="24546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Excel Sprint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7b438e05f_0_146"/>
          <p:cNvSpPr txBox="1"/>
          <p:nvPr/>
        </p:nvSpPr>
        <p:spPr>
          <a:xfrm>
            <a:off x="1943200" y="30818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Componentes y Despliegue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97b438e05f_0_146"/>
          <p:cNvSpPr txBox="1"/>
          <p:nvPr/>
        </p:nvSpPr>
        <p:spPr>
          <a:xfrm>
            <a:off x="1943200" y="39362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Secuencia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7b438e05f_0_146"/>
          <p:cNvSpPr txBox="1"/>
          <p:nvPr/>
        </p:nvSpPr>
        <p:spPr>
          <a:xfrm>
            <a:off x="1943200" y="46832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Incremento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7b438e05f_0_146"/>
          <p:cNvSpPr txBox="1"/>
          <p:nvPr/>
        </p:nvSpPr>
        <p:spPr>
          <a:xfrm>
            <a:off x="1943200" y="54303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MERE, MR y Modelo Físico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7b438e05f_0_146"/>
          <p:cNvSpPr txBox="1"/>
          <p:nvPr/>
        </p:nvSpPr>
        <p:spPr>
          <a:xfrm>
            <a:off x="1943200" y="6177325"/>
            <a:ext cx="60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Incremento 1, Video Presentación y Video de instalación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97b438e05f_0_146"/>
          <p:cNvSpPr txBox="1"/>
          <p:nvPr/>
        </p:nvSpPr>
        <p:spPr>
          <a:xfrm>
            <a:off x="6797050" y="3268975"/>
            <a:ext cx="20955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la documentación extendida y el código, se encuentra estructurada y disponible en nuestro entorno 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itHub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revisión profunda.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g397b438e05f_0_146" title="QR Indice completo GitHu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1188" y="1339538"/>
            <a:ext cx="1518175" cy="15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ebf930dc6c_1_0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ebf930dc6c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bf930dc6c_1_0"/>
          <p:cNvSpPr txBox="1"/>
          <p:nvPr/>
        </p:nvSpPr>
        <p:spPr>
          <a:xfrm>
            <a:off x="108926" y="274075"/>
            <a:ext cx="82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Correo del Usuario confirmando y aceptando progreso del Incremento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g3ebf930dc6c_1_0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bf930dc6c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158487"/>
            <a:ext cx="8839200" cy="252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3e012e04817_0_249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e012e04817_0_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012e04817_0_249"/>
          <p:cNvSpPr txBox="1"/>
          <p:nvPr/>
        </p:nvSpPr>
        <p:spPr>
          <a:xfrm>
            <a:off x="108976" y="127950"/>
            <a:ext cx="8207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 de la presentación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012e04817_0_249"/>
          <p:cNvSpPr txBox="1"/>
          <p:nvPr/>
        </p:nvSpPr>
        <p:spPr>
          <a:xfrm>
            <a:off x="1360500" y="3036450"/>
            <a:ext cx="6423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1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e012e04817_0_249"/>
          <p:cNvPicPr preferRelativeResize="0"/>
          <p:nvPr/>
        </p:nvPicPr>
        <p:blipFill rotWithShape="1">
          <a:blip r:embed="rId5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